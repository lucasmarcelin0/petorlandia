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2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3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4.xml" ContentType="application/vnd.openxmlformats-officedocument.drawingml.chart+xml"/>
  <Override PartName="/ppt/slides/charts/chart5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41a7ad148494662" /><Relationship Type="http://schemas.openxmlformats.org/officeDocument/2006/relationships/extended-properties" Target="/docProps/app.xml" Id="R2dba8767304c46ac" /><Relationship Type="http://schemas.openxmlformats.org/officeDocument/2006/relationships/officeDocument" Target="/ppt/presentation.xml" Id="R7803fc5db812427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91d3f1232c04e6e"/>
  </p:sldMasterIdLst>
  <p:notesMasterIdLst>
    <p:notesMasterId xmlns:r="http://schemas.openxmlformats.org/officeDocument/2006/relationships" r:id="Rb69ad49582d848ee"/>
  </p:notesMasterIdLst>
  <p:sldIdLst>
    <p:sldId xmlns:r="http://schemas.openxmlformats.org/officeDocument/2006/relationships" id="256" r:id="R33f59e072d9f4dc8"/>
    <p:sldId xmlns:r="http://schemas.openxmlformats.org/officeDocument/2006/relationships" id="257" r:id="Rc775156f8f2e401b"/>
    <p:sldId xmlns:r="http://schemas.openxmlformats.org/officeDocument/2006/relationships" id="258" r:id="Rb4ebe3714e2349f2"/>
    <p:sldId xmlns:r="http://schemas.openxmlformats.org/officeDocument/2006/relationships" id="259" r:id="R37f608a34fbd4ed7"/>
    <p:sldId xmlns:r="http://schemas.openxmlformats.org/officeDocument/2006/relationships" id="260" r:id="R37038a9117314fca"/>
    <p:sldId xmlns:r="http://schemas.openxmlformats.org/officeDocument/2006/relationships" id="261" r:id="R1c642e462b3d4e6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1d3f1232c04e6e" /><Relationship Type="http://schemas.openxmlformats.org/officeDocument/2006/relationships/theme" Target="/ppt/theme/theme1.xml" Id="Rd5a6c80c10554bdc" /><Relationship Type="http://schemas.openxmlformats.org/officeDocument/2006/relationships/notesMaster" Target="/ppt/notesMasters/notesMaster1.xml" Id="Rb69ad49582d848ee" /><Relationship Type="http://schemas.openxmlformats.org/officeDocument/2006/relationships/presProps" Target="/ppt/presProps.xml" Id="Rc4d32b335b0d401a" /><Relationship Type="http://schemas.openxmlformats.org/officeDocument/2006/relationships/viewProps" Target="/ppt/viewProps.xml" Id="Rd235de972fdd4b72" /><Relationship Type="http://schemas.openxmlformats.org/officeDocument/2006/relationships/tableStyles" Target="/ppt/tableStyles.xml" Id="Rcc8ae4a7f83e49cb" /><Relationship Type="http://schemas.openxmlformats.org/officeDocument/2006/relationships/slide" Target="/ppt/slides/slide1.xml" Id="R33f59e072d9f4dc8" /><Relationship Type="http://schemas.openxmlformats.org/officeDocument/2006/relationships/slide" Target="/ppt/slides/slide2.xml" Id="Rc775156f8f2e401b" /><Relationship Type="http://schemas.openxmlformats.org/officeDocument/2006/relationships/slide" Target="/ppt/slides/slide3.xml" Id="Rb4ebe3714e2349f2" /><Relationship Type="http://schemas.openxmlformats.org/officeDocument/2006/relationships/slide" Target="/ppt/slides/slide4.xml" Id="R37f608a34fbd4ed7" /><Relationship Type="http://schemas.openxmlformats.org/officeDocument/2006/relationships/slide" Target="/ppt/slides/slide5.xml" Id="R37038a9117314fca" /><Relationship Type="http://schemas.openxmlformats.org/officeDocument/2006/relationships/slide" Target="/ppt/slides/slide6.xml" Id="R1c642e462b3d4e6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0b465f02e563477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PetOrlandiaSupplier">
  <a:themeElements>
    <a:clrScheme name="PetOrlandiaSupplier">
      <a:accent1>
        <a:srgbClr val="1E8E5A"/>
      </a:accent1>
      <a:accent2>
        <a:srgbClr val="2F6BFF"/>
      </a:accent2>
      <a:accent3>
        <a:srgbClr val="C8921C"/>
      </a:accent3>
      <a:accent4>
        <a:srgbClr val="E06C4B"/>
      </a:accent4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PetOrlandiaSupplier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219b20e57214421" /><Relationship Type="http://schemas.openxmlformats.org/officeDocument/2006/relationships/notesMaster" Target="/ppt/notesMasters/notesMaster1.xml" Id="R824c82052dd14bf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c66116677da4b84" /><Relationship Type="http://schemas.openxmlformats.org/officeDocument/2006/relationships/notesMaster" Target="/ppt/notesMasters/notesMaster1.xml" Id="R58cdb7c336f94e5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81f0e659d9d4b9f" /><Relationship Type="http://schemas.openxmlformats.org/officeDocument/2006/relationships/notesMaster" Target="/ppt/notesMasters/notesMaster1.xml" Id="R1d99b673792744e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459edd4aa8444bd" /><Relationship Type="http://schemas.openxmlformats.org/officeDocument/2006/relationships/notesMaster" Target="/ppt/notesMasters/notesMaster1.xml" Id="Rfd7fed41a2b2419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e8832abf0f54292" /><Relationship Type="http://schemas.openxmlformats.org/officeDocument/2006/relationships/notesMaster" Target="/ppt/notesMasters/notesMaster1.xml" Id="R594104bdedfe429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b4ff5b3501c4f04" /><Relationship Type="http://schemas.openxmlformats.org/officeDocument/2006/relationships/notesMaster" Target="/ppt/notesMasters/notesMaster1.xml" Id="R76b658d543434d2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f57de46a3646ad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 1">
            <a:extLst xmlns:a="http://schemas.openxmlformats.org/drawingml/2006/main">
              <a:ext uri="{FF2B5EF4-FFF2-40B4-BE49-F238E27FC236}">
                <a16:creationId xmlns:a16="http://schemas.microsoft.com/office/drawing/2014/main" id="{92542EA2-ADE3-473E-BF72-52DB06041378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2" name="Subtitle 2">
            <a:extLst xmlns:a="http://schemas.openxmlformats.org/drawingml/2006/main">
              <a:ext uri="{FF2B5EF4-FFF2-40B4-BE49-F238E27FC236}">
                <a16:creationId xmlns:a16="http://schemas.microsoft.com/office/drawing/2014/main" id="{ABA0A96F-0817-4A81-A01B-15D0835E569D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3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49216C0-1AE7-49F0-BE83-7BBE24F76D47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0532558-2C3A-44BD-A8C9-F2C7DF4C3731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43A2B1E-0E2D-43DF-BCB2-FA86E43D29E4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2e95be150c044a64" /><Relationship Type="http://schemas.openxmlformats.org/officeDocument/2006/relationships/slideLayout" Target="/ppt/slideLayouts/slideLayout2.xml" Id="Rbca2a1ca79164ac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47512F2-3097-4385-9002-12A16666417C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ca2a1ca79164ac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08bdca5890e4378" /><Relationship Type="http://schemas.openxmlformats.org/officeDocument/2006/relationships/notesSlide" Target="/ppt/notesSlides/notesSlide1.xml" Id="R2e6b369f363d4aa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7d037afba5f4082" /><Relationship Type="http://schemas.openxmlformats.org/officeDocument/2006/relationships/chart" Target="/ppt/slides/charts/chart1.xml" Id="Rca32811808ab4036" /><Relationship Type="http://schemas.openxmlformats.org/officeDocument/2006/relationships/notesSlide" Target="/ppt/notesSlides/notesSlide2.xml" Id="R4fd76c8b3b2e4d3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ec159b25eb74694" /><Relationship Type="http://schemas.openxmlformats.org/officeDocument/2006/relationships/chart" Target="/ppt/slides/charts/chart2.xml" Id="R2401e00901ce4868" /><Relationship Type="http://schemas.openxmlformats.org/officeDocument/2006/relationships/notesSlide" Target="/ppt/notesSlides/notesSlide3.xml" Id="R6488dd0518144cd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229a38384204ee7" /><Relationship Type="http://schemas.openxmlformats.org/officeDocument/2006/relationships/chart" Target="/ppt/slides/charts/chart3.xml" Id="Rc0a3f4ee90cf419e" /><Relationship Type="http://schemas.openxmlformats.org/officeDocument/2006/relationships/notesSlide" Target="/ppt/notesSlides/notesSlide4.xml" Id="R0fbfcd8455334c0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aa8edbad5e84fc7" /><Relationship Type="http://schemas.openxmlformats.org/officeDocument/2006/relationships/chart" Target="/ppt/slides/charts/chart4.xml" Id="R73561a84585f46cd" /><Relationship Type="http://schemas.openxmlformats.org/officeDocument/2006/relationships/chart" Target="/ppt/slides/charts/chart5.xml" Id="R3c47666c87b74f3c" /><Relationship Type="http://schemas.openxmlformats.org/officeDocument/2006/relationships/notesSlide" Target="/ppt/notesSlides/notesSlide5.xml" Id="Rd8807c29b3df49e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c9f7e8a23974ff5" /><Relationship Type="http://schemas.openxmlformats.org/officeDocument/2006/relationships/notesSlide" Target="/ppt/notesSlides/notesSlide6.xml" Id="Rda60402ff40e4c94" /></Relationships>
</file>

<file path=ppt/slides/charts/chart1.xml><?xml version="1.0" encoding="utf-8"?>
<c:chartSpace xmlns:c="http://schemas.openxmlformats.org/drawingml/2006/chart">
  <c:lang val="en-US"/>
  <c:roundedCorners val="0"/>
  <c:chart>
    <c:view3D/>
    <c:plotArea>
      <c:layout/>
      <c:barChart>
        <c:barDir val="col"/>
        <c:varyColors val="0"/>
        <c:ser>
          <c:idx val="0"/>
          <c:order val="0"/>
          <c:tx>
            <c:v>Valores</c:v>
          </c:tx>
          <c:spPr>
            <a:solidFill xmlns:a="http://schemas.openxmlformats.org/drawingml/2006/main">
              <a:srgbClr val="1E8E5A"/>
            </a:solidFill>
            <a:ln xmlns:a="http://schemas.openxmlformats.org/drawingml/2006/main" w="9525">
              <a:solidFill>
                <a:srgbClr val="1E8E5A"/>
              </a:solidFill>
              <a:prstDash val="solid"/>
            </a:ln>
          </c:spPr>
          <c:cat>
            <c:strLit>
              <c:ptCount val="5"/>
              <c:pt idx="0">
                <c:v>Tutores com pets</c:v>
              </c:pt>
              <c:pt idx="1">
                <c:v>Contatados</c:v>
              </c:pt>
              <c:pt idx="2">
                <c:v>Enviados</c:v>
              </c:pt>
              <c:pt idx="3">
                <c:v>Responderam</c:v>
              </c:pt>
              <c:pt idx="4">
                <c:v>Estruturados</c:v>
              </c:pt>
            </c:strLit>
          </c:cat>
          <c:val>
            <c:numLit>
              <c:formatCode/>
              <c:ptCount val="5"/>
              <c:pt idx="0">
                <c:v>216</c:v>
              </c:pt>
              <c:pt idx="1">
                <c:v>124</c:v>
              </c:pt>
              <c:pt idx="2">
                <c:v>94</c:v>
              </c:pt>
              <c:pt idx="3">
                <c:v>25</c:v>
              </c:pt>
              <c:pt idx="4">
                <c:v>14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es val="autoZero"/>
        <c:crossBetween val="between"/>
      </c:valAx>
    </c:plotArea>
    <c:plotVisOnly val="1"/>
  </c:chart>
</c:chartSpace>
</file>

<file path=ppt/slides/charts/chart2.xml><?xml version="1.0" encoding="utf-8"?>
<c:chartSpace xmlns:c="http://schemas.openxmlformats.org/drawingml/2006/chart">
  <c:lang val="en-US"/>
  <c:roundedCorners val="0"/>
  <c:chart>
    <c:view3D/>
    <c:plotArea>
      <c:layout/>
      <c:pieChart>
        <c:ser>
          <c:idx val="0"/>
          <c:order val="0"/>
          <c:tx>
            <c:v>Interesse</c:v>
          </c:tx>
          <c:spPr>
            <a:solidFill xmlns:a="http://schemas.openxmlformats.org/drawingml/2006/main">
              <a:srgbClr val="1E8E5A"/>
            </a:solidFill>
          </c:spPr>
          <c:cat>
            <c:strLit>
              <c:ptCount val="3"/>
              <c:pt idx="0">
                <c:v>Sim</c:v>
              </c:pt>
              <c:pt idx="1">
                <c:v>Talvez</c:v>
              </c:pt>
              <c:pt idx="2">
                <c:v>Não</c:v>
              </c:pt>
            </c:strLit>
          </c:cat>
          <c:val>
            <c:numLit>
              <c:formatCode>General</c:formatCode>
              <c:ptCount val="3"/>
              <c:pt idx="0">
                <c:v>12</c:v>
              </c:pt>
              <c:pt idx="1">
                <c:v>1</c:v>
              </c:pt>
              <c:pt idx="2">
                <c:v>1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</c:pieChart>
    </c:plotArea>
    <c:legend>
      <c:legendPos val="r"/>
      <c:overlay val="0"/>
    </c:legend>
    <c:plotVisOnly val="1"/>
  </c:chart>
</c:chartSpace>
</file>

<file path=ppt/slides/charts/chart3.xml><?xml version="1.0" encoding="utf-8"?>
<c:chartSpace xmlns:c="http://schemas.openxmlformats.org/drawingml/2006/chart">
  <c:lang val="en-US"/>
  <c:roundedCorners val="0"/>
  <c:chart>
    <c:view3D/>
    <c:plotArea>
      <c:layout/>
      <c:barChart>
        <c:barDir val="col"/>
        <c:varyColors val="0"/>
        <c:ser>
          <c:idx val="0"/>
          <c:order val="0"/>
          <c:tx>
            <c:v>Valores</c:v>
          </c:tx>
          <c:spPr>
            <a:solidFill xmlns:a="http://schemas.openxmlformats.org/drawingml/2006/main">
              <a:srgbClr val="5E6E7E"/>
            </a:solidFill>
            <a:ln xmlns:a="http://schemas.openxmlformats.org/drawingml/2006/main" w="9525">
              <a:solidFill>
                <a:srgbClr val="5E6E7E"/>
              </a:solidFill>
              <a:prstDash val="solid"/>
            </a:ln>
          </c:spPr>
          <c:cat>
            <c:strLit>
              <c:ptCount val="6"/>
              <c:pt idx="0">
                <c:v>Marcas variadas</c:v>
              </c:pt>
              <c:pt idx="1">
                <c:v>Special Dog</c:v>
              </c:pt>
              <c:pt idx="2">
                <c:v>Golden</c:v>
              </c:pt>
              <c:pt idx="3">
                <c:v>Coby</c:v>
              </c:pt>
              <c:pt idx="4">
                <c:v>Nutrilus</c:v>
              </c:pt>
              <c:pt idx="5">
                <c:v>Quatree</c:v>
              </c:pt>
            </c:strLit>
          </c:cat>
          <c:val>
            <c:numLit>
              <c:formatCode/>
              <c:ptCount val="6"/>
              <c:pt idx="0">
                <c:v>15</c:v>
              </c:pt>
              <c:pt idx="1">
                <c:v>14</c:v>
              </c:pt>
              <c:pt idx="2">
                <c:v>5</c:v>
              </c:pt>
              <c:pt idx="3">
                <c:v>4</c:v>
              </c:pt>
              <c:pt idx="4">
                <c:v>3</c:v>
              </c:pt>
              <c:pt idx="5">
                <c:v>3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es val="autoZero"/>
        <c:crossBetween val="between"/>
      </c:valAx>
    </c:plotArea>
    <c:plotVisOnly val="1"/>
  </c:chart>
</c:chartSpace>
</file>

<file path=ppt/slides/charts/chart4.xml><?xml version="1.0" encoding="utf-8"?>
<c:chartSpace xmlns:c="http://schemas.openxmlformats.org/drawingml/2006/chart">
  <c:lang val="en-US"/>
  <c:roundedCorners val="0"/>
  <c:chart>
    <c:view3D/>
    <c:plotArea>
      <c:layout/>
      <c:barChart>
        <c:barDir val="col"/>
        <c:varyColors val="0"/>
        <c:ser>
          <c:idx val="0"/>
          <c:order val="0"/>
          <c:tx>
            <c:v>Valores</c:v>
          </c:tx>
          <c:spPr>
            <a:solidFill xmlns:a="http://schemas.openxmlformats.org/drawingml/2006/main">
              <a:srgbClr val="1E8E5A"/>
            </a:solidFill>
            <a:ln xmlns:a="http://schemas.openxmlformats.org/drawingml/2006/main" w="9525">
              <a:solidFill>
                <a:srgbClr val="1E8E5A"/>
              </a:solidFill>
              <a:prstDash val="solid"/>
            </a:ln>
          </c:spPr>
          <c:cat>
            <c:strLit>
              <c:ptCount val="4"/>
              <c:pt idx="0">
                <c:v>15 kg</c:v>
              </c:pt>
              <c:pt idx="1">
                <c:v>1 kg</c:v>
              </c:pt>
              <c:pt idx="2">
                <c:v>10 kg</c:v>
              </c:pt>
              <c:pt idx="3">
                <c:v>20 kg</c:v>
              </c:pt>
            </c:strLit>
          </c:cat>
          <c:val>
            <c:numLit>
              <c:formatCode/>
              <c:ptCount val="4"/>
              <c:pt idx="0">
                <c:v>18</c:v>
              </c:pt>
              <c:pt idx="1">
                <c:v>8</c:v>
              </c:pt>
              <c:pt idx="2">
                <c:v>2</c:v>
              </c:pt>
              <c:pt idx="3">
                <c:v>2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es val="autoZero"/>
        <c:crossBetween val="between"/>
      </c:valAx>
    </c:plotArea>
    <c:plotVisOnly val="1"/>
  </c:chart>
</c:chartSpace>
</file>

<file path=ppt/slides/charts/chart5.xml><?xml version="1.0" encoding="utf-8"?>
<c:chartSpace xmlns:c="http://schemas.openxmlformats.org/drawingml/2006/chart">
  <c:lang val="en-US"/>
  <c:roundedCorners val="0"/>
  <c:chart>
    <c:view3D/>
    <c:plotArea>
      <c:layout/>
      <c:barChart>
        <c:barDir val="col"/>
        <c:varyColors val="0"/>
        <c:ser>
          <c:idx val="0"/>
          <c:order val="0"/>
          <c:tx>
            <c:v>Valores</c:v>
          </c:tx>
          <c:spPr>
            <a:solidFill xmlns:a="http://schemas.openxmlformats.org/drawingml/2006/main">
              <a:srgbClr val="E06C4B"/>
            </a:solidFill>
            <a:ln xmlns:a="http://schemas.openxmlformats.org/drawingml/2006/main" w="9525">
              <a:solidFill>
                <a:srgbClr val="E06C4B"/>
              </a:solidFill>
              <a:prstDash val="solid"/>
            </a:ln>
          </c:spPr>
          <c:cat>
            <c:strLit>
              <c:ptCount val="3"/>
              <c:pt idx="0">
                <c:v>Até R$50</c:v>
              </c:pt>
              <c:pt idx="1">
                <c:v>R$50–100</c:v>
              </c:pt>
              <c:pt idx="2">
                <c:v>R$100–150</c:v>
              </c:pt>
            </c:strLit>
          </c:cat>
          <c:val>
            <c:numLit>
              <c:formatCode/>
              <c:ptCount val="3"/>
              <c:pt idx="0">
                <c:v>4</c:v>
              </c:pt>
              <c:pt idx="1">
                <c:v>3</c:v>
              </c:pt>
              <c:pt idx="2">
                <c:v>6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es val="autoZero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43A2B1E-0E2D-43DF-BCB2-FA86E43D29E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2DFAFF-27AA-4CFD-90A2-E0EEB7143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-1143000"/>
            <a:ext cx="3619500" cy="266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E5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8C5D54-590E-4401-BC66-D0909D746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571500" y="5143500"/>
            <a:ext cx="2476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E9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F761CE-A4AA-48B2-9D3E-004DB8A65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5143500" cy="4476750"/>
          </a:xfrm>
          <a:prstGeom xmlns:a="http://schemas.openxmlformats.org/drawingml/2006/main" prst="roundRect">
            <a:avLst>
              <a:gd name="adj" fmla="val 1702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3C7B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4B6FC3-7805-4072-836E-4D0CEC5F9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200150"/>
            <a:ext cx="44767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F262C"/>
                </a:solidFill>
              </a:defRPr>
            </a:pPr>
            <a:r>
              <a:rPr sz="3000" b="1">
                <a:solidFill>
                  <a:srgbClr val="1F262C"/>
                </a:solidFill>
              </a:rPr>
              <a:t>Orlândia: oportunidade concreta para entrada em ração pet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F74CF2-B04A-4370-913C-5859B901E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09850"/>
            <a:ext cx="4095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7737D"/>
                </a:solidFill>
              </a:defRPr>
            </a:pPr>
            <a:r>
              <a:rPr sz="1425" b="0">
                <a:solidFill>
                  <a:srgbClr val="67737D"/>
                </a:solidFill>
              </a:rPr>
              <a:t>Leitura consolidada de mercado com base própria da clínica, pesquisa atual, histórico de consumo e levantamento anterior já convergindo na mesma direção.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DC4D4D-8833-4EA0-992E-02F29D221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814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8E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6F1075-C4E3-42A2-A30E-B9FEFEA52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695700"/>
            <a:ext cx="3771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62C"/>
                </a:solidFill>
              </a:defRPr>
            </a:pPr>
            <a:r>
              <a:rPr sz="1350" b="0">
                <a:solidFill>
                  <a:srgbClr val="1F262C"/>
                </a:solidFill>
              </a:rPr>
              <a:t>Base própria, confiança local e acesso direto ao consumidor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A568C5-2028-41A2-969D-71C97FB79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910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8E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057A95-6719-41D4-8C52-DFF51B4ED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305300"/>
            <a:ext cx="3771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62C"/>
                </a:solidFill>
              </a:defRPr>
            </a:pPr>
            <a:r>
              <a:rPr sz="1350" b="0">
                <a:solidFill>
                  <a:srgbClr val="1F262C"/>
                </a:solidFill>
              </a:rPr>
              <a:t>Sinais combinados apontam força em linhas econômicas e intermediárias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B05E8F-931A-4064-B897-1AC464A77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006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8E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7A5043-07F5-4F28-B5AD-839624C66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914900"/>
            <a:ext cx="3771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62C"/>
                </a:solidFill>
              </a:defRPr>
            </a:pPr>
            <a:r>
              <a:rPr sz="1350" b="0">
                <a:solidFill>
                  <a:srgbClr val="1F262C"/>
                </a:solidFill>
              </a:rPr>
              <a:t>15 kg e faixa de R$100–150 formam o ponto de entrada mais claro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71FE3D-76AE-4CC5-9347-62AB2E182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143000"/>
            <a:ext cx="23812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DDF4EA"/>
          </a:solidFill>
          <a:ln xmlns:a="http://schemas.openxmlformats.org/drawingml/2006/main" w="9525">
            <a:solidFill>
              <a:srgbClr val="D3C7B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F3F381-1DE7-4DCF-AFB9-CCF101B15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143000"/>
            <a:ext cx="2381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8E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38F439-2601-4560-A206-ED1243F9F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371600"/>
            <a:ext cx="1962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F262C"/>
                </a:solidFill>
              </a:defRPr>
            </a:pPr>
            <a:r>
              <a:rPr sz="2400" b="1">
                <a:solidFill>
                  <a:srgbClr val="1F262C"/>
                </a:solidFill>
              </a:rPr>
              <a:t>216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96CA5C-99AA-4970-A117-BEA2B7295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847850"/>
            <a:ext cx="1962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7737D"/>
                </a:solidFill>
              </a:defRPr>
            </a:pPr>
            <a:r>
              <a:rPr sz="1275" b="0">
                <a:solidFill>
                  <a:srgbClr val="67737D"/>
                </a:solidFill>
              </a:rPr>
              <a:t>tutores com pets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A30D10-C2E4-4615-BAC7-4B2AD1B91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143000"/>
            <a:ext cx="23812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1EAFE"/>
          </a:solidFill>
          <a:ln xmlns:a="http://schemas.openxmlformats.org/drawingml/2006/main" w="9525">
            <a:solidFill>
              <a:srgbClr val="D3C7B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D7ED79-5819-4C43-BAFC-22ED1A610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143000"/>
            <a:ext cx="2381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31168E-EBC4-4B16-AE38-05C9FFAA7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371600"/>
            <a:ext cx="1962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F262C"/>
                </a:solidFill>
              </a:defRPr>
            </a:pPr>
            <a:r>
              <a:rPr sz="2400" b="1">
                <a:solidFill>
                  <a:srgbClr val="1F262C"/>
                </a:solidFill>
              </a:rPr>
              <a:t>124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D49D6D-32C4-4808-BBF7-EC40B7A63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847850"/>
            <a:ext cx="1962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7737D"/>
                </a:solidFill>
              </a:defRPr>
            </a:pPr>
            <a:r>
              <a:rPr sz="1275" b="0">
                <a:solidFill>
                  <a:srgbClr val="67737D"/>
                </a:solidFill>
              </a:rPr>
              <a:t>já no radar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086610-723C-4B61-94E8-1FFEBF2D1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419350"/>
            <a:ext cx="23812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9EBCB"/>
          </a:solidFill>
          <a:ln xmlns:a="http://schemas.openxmlformats.org/drawingml/2006/main" w="9525">
            <a:solidFill>
              <a:srgbClr val="D3C7B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CF8FE7F-2745-4373-A450-7745C7916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419350"/>
            <a:ext cx="2381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2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AB76B6D-43B3-42BC-A788-738FE1DBC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647950"/>
            <a:ext cx="1962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F262C"/>
                </a:solidFill>
              </a:defRPr>
            </a:pPr>
            <a:r>
              <a:rPr sz="2400" b="1">
                <a:solidFill>
                  <a:srgbClr val="1F262C"/>
                </a:solidFill>
              </a:rPr>
              <a:t>14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2EE3B0B-FEB9-4E1B-9A26-5F0D730C8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124200"/>
            <a:ext cx="1962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7737D"/>
                </a:solidFill>
              </a:defRPr>
            </a:pPr>
            <a:r>
              <a:rPr sz="1275" b="0">
                <a:solidFill>
                  <a:srgbClr val="67737D"/>
                </a:solidFill>
              </a:rPr>
              <a:t>respostas estruturadas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DF3CA5F-F0CD-4023-A067-54B473E25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19350"/>
            <a:ext cx="23812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8DDD5"/>
          </a:solidFill>
          <a:ln xmlns:a="http://schemas.openxmlformats.org/drawingml/2006/main" w="9525">
            <a:solidFill>
              <a:srgbClr val="D3C7B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45AFC60-CBF9-4220-AF0B-84B814A81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19350"/>
            <a:ext cx="2381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6C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8DDCE42-00E3-473B-82AD-654BA9CEC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647950"/>
            <a:ext cx="1962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F262C"/>
                </a:solidFill>
              </a:defRPr>
            </a:pPr>
            <a:r>
              <a:rPr sz="2400" b="1">
                <a:solidFill>
                  <a:srgbClr val="1F262C"/>
                </a:solidFill>
              </a:rPr>
              <a:t>92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A0B7DB1-A9C5-4B49-B472-A5DD248FF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124200"/>
            <a:ext cx="1962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7737D"/>
                </a:solidFill>
              </a:defRPr>
            </a:pPr>
            <a:r>
              <a:rPr sz="1275" b="0">
                <a:solidFill>
                  <a:srgbClr val="67737D"/>
                </a:solidFill>
              </a:rPr>
              <a:t>a contatar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8E27644-3CB3-4818-B2F9-1742C152F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867150"/>
            <a:ext cx="493395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FFF8ED"/>
          </a:solidFill>
          <a:ln xmlns:a="http://schemas.openxmlformats.org/drawingml/2006/main" w="9525">
            <a:solidFill>
              <a:srgbClr val="D3C7B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BA22292-7A56-48EA-9A4B-E6648F2B6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038600"/>
            <a:ext cx="4514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5B39"/>
                </a:solidFill>
              </a:defRPr>
            </a:pPr>
            <a:r>
              <a:rPr sz="1200" b="1">
                <a:solidFill>
                  <a:srgbClr val="0F5B39"/>
                </a:solidFill>
              </a:rPr>
              <a:t>Tese para a reunião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70BCFF1-8764-4A4B-AC4D-495090B2D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438650"/>
            <a:ext cx="45148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62C"/>
                </a:solidFill>
              </a:defRPr>
            </a:pPr>
            <a:r>
              <a:rPr sz="1350" b="0">
                <a:solidFill>
                  <a:srgbClr val="1F262C"/>
                </a:solidFill>
              </a:rPr>
              <a:t>A indústria não está olhando para um mercado hipotético. Já existe acesso ao cliente final, confiança local e sinais consistentes de quais linhas, formatos e faixas de preço têm mais chance de giro.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9909ACD-AF57-4A2D-9B3C-35D107D46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763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7737D"/>
                </a:solidFill>
              </a:defRPr>
            </a:pPr>
            <a:r>
              <a:rPr sz="900" b="0">
                <a:solidFill>
                  <a:srgbClr val="67737D"/>
                </a:solidFill>
              </a:rPr>
              <a:t>Fonte: base PetOrlândia em 19/04/2026 + pesquisa histórica consolidada.</a:t>
            </a:r>
          </a:p>
        </p:txBody>
      </p:sp>
    </p:spTree>
    <p:extLst>
      <p:ext uri="{BB962C8B-B14F-4D97-AF65-F5344CB8AC3E}">
        <p14:creationId xmlns:p14="http://schemas.microsoft.com/office/powerpoint/2010/main" val="77861783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43A2B1E-0E2D-43DF-BCB2-FA86E43D29E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3BEB18-109C-4729-ACB8-B11E42830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-1143000"/>
            <a:ext cx="3619500" cy="266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E5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6E5AF0-E1F5-4B55-ADCD-EE3365B9E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571500" y="5143500"/>
            <a:ext cx="2476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E9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E30AC1-B688-432F-BACD-A73871346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5B39"/>
                </a:solidFill>
              </a:defRPr>
            </a:pPr>
            <a:r>
              <a:rPr sz="900" b="1">
                <a:solidFill>
                  <a:srgbClr val="0F5B39"/>
                </a:solidFill>
              </a:rPr>
              <a:t>MERCADO ACESSÍVEL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5E26D7-9788-436F-9E18-F991D4F13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42900"/>
            <a:ext cx="914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F5B39"/>
                </a:solidFill>
              </a:defRPr>
            </a:pPr>
            <a:r>
              <a:rPr sz="900" b="1">
                <a:solidFill>
                  <a:srgbClr val="0F5B39"/>
                </a:solidFill>
              </a:rPr>
              <a:t>02 / 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B78D19-CBED-4173-981E-ADF0F2A72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C7B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52EE62-4A25-4A79-8707-210B990F6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7239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F262C"/>
                </a:solidFill>
              </a:defRPr>
            </a:pPr>
            <a:r>
              <a:rPr sz="2550" b="1">
                <a:solidFill>
                  <a:srgbClr val="1F262C"/>
                </a:solidFill>
              </a:rPr>
              <a:t>Já existe um funil comercial local em construção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4ADD28-25E4-426E-B751-DFD8073EC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71650"/>
            <a:ext cx="723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7737D"/>
                </a:solidFill>
              </a:defRPr>
            </a:pPr>
            <a:r>
              <a:rPr sz="1350" b="0">
                <a:solidFill>
                  <a:srgbClr val="67737D"/>
                </a:solidFill>
              </a:rPr>
              <a:t>A oportunidade começa com base própria, relacionamento e capacidade imediata de ampliar a leitura comercial.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400342-00D4-41F4-B12F-22045EEC2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609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262C"/>
                </a:solidFill>
              </a:defRPr>
            </a:pPr>
            <a:r>
              <a:rPr sz="1200" b="1">
                <a:solidFill>
                  <a:srgbClr val="1F262C"/>
                </a:solidFill>
              </a:rPr>
              <a:t>Base e avanço do funil</a:t>
            </a:r>
          </a:p>
        </p:txBody>
      </p:sp>
      <p:graphicFrame>
        <p:nvGraphicFramePr>
          <p:cNvPr id="10" name="Chart"/>
          <p:cNvGraphicFramePr/>
          <p:nvPr/>
        </p:nvGraphicFramePr>
        <p:xfrm>
          <a:off xmlns:a="http://schemas.openxmlformats.org/drawingml/2006/main" x="685800" y="2895600"/>
          <a:ext xmlns:a="http://schemas.openxmlformats.org/drawingml/2006/main" cx="6191250" cy="2667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a32811808ab4036"/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5A3296-B92F-494D-B189-3CB658201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895600"/>
            <a:ext cx="41719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3C7B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CCC825-3582-4F6F-AE0E-DD0252290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067050"/>
            <a:ext cx="3752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5B39"/>
                </a:solidFill>
              </a:defRPr>
            </a:pPr>
            <a:r>
              <a:rPr sz="1200" b="1">
                <a:solidFill>
                  <a:srgbClr val="0F5B39"/>
                </a:solidFill>
              </a:rPr>
              <a:t>Leitura comercial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65DF04-4BCC-427F-9629-F605E4279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467100"/>
            <a:ext cx="3752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62C"/>
                </a:solidFill>
              </a:defRPr>
            </a:pPr>
            <a:r>
              <a:rPr sz="1350" b="0">
                <a:solidFill>
                  <a:srgbClr val="1F262C"/>
                </a:solidFill>
              </a:rPr>
              <a:t>O funil já saiu do zero e ainda tem espaço claro para crescer. Para a fábrica, isso significa entrada com canal ativo, aprendizagem rápida e 92 próximos tutores para validação.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07930D-832E-4E05-B922-35E4EF72E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343400"/>
            <a:ext cx="19812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DDF4EA"/>
          </a:solidFill>
          <a:ln xmlns:a="http://schemas.openxmlformats.org/drawingml/2006/main" w="9525">
            <a:solidFill>
              <a:srgbClr val="D3C7B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8EE671-58C7-4961-AB0B-E01021292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343400"/>
            <a:ext cx="1981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8E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514019-4D1D-4657-A494-B80BF9A2F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572000"/>
            <a:ext cx="1562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F262C"/>
                </a:solidFill>
              </a:defRPr>
            </a:pPr>
            <a:r>
              <a:rPr sz="2400" b="1">
                <a:solidFill>
                  <a:srgbClr val="1F262C"/>
                </a:solidFill>
              </a:rPr>
              <a:t>250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372D26-1B86-43FF-978C-F58EEEAC9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048250"/>
            <a:ext cx="1562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7737D"/>
                </a:solidFill>
              </a:defRPr>
            </a:pPr>
            <a:r>
              <a:rPr sz="1275" b="0">
                <a:solidFill>
                  <a:srgbClr val="67737D"/>
                </a:solidFill>
              </a:rPr>
              <a:t>clientes totais da clínica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4AD5D8-3BBE-4CF6-A6D9-6D36F2011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343400"/>
            <a:ext cx="20002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E1EAFE"/>
          </a:solidFill>
          <a:ln xmlns:a="http://schemas.openxmlformats.org/drawingml/2006/main" w="9525">
            <a:solidFill>
              <a:srgbClr val="D3C7B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E6DE4D-27BC-4F4E-95DD-4329FD36B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343400"/>
            <a:ext cx="2000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D517E2-141F-4069-BBDD-842BA05DF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572000"/>
            <a:ext cx="1581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F262C"/>
                </a:solidFill>
              </a:defRPr>
            </a:pPr>
            <a:r>
              <a:rPr sz="2400" b="1">
                <a:solidFill>
                  <a:srgbClr val="1F262C"/>
                </a:solidFill>
              </a:rPr>
              <a:t>273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BBEC28-1165-40D1-B976-1975FEF4A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5048250"/>
            <a:ext cx="1581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7737D"/>
                </a:solidFill>
              </a:defRPr>
            </a:pPr>
            <a:r>
              <a:rPr sz="1275" b="0">
                <a:solidFill>
                  <a:srgbClr val="67737D"/>
                </a:solidFill>
              </a:rPr>
              <a:t>animais cadastrados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A35496-EFE6-442F-890C-3B365B50B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763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7737D"/>
                </a:solidFill>
              </a:defRPr>
            </a:pPr>
            <a:r>
              <a:rPr sz="900" b="0">
                <a:solidFill>
                  <a:srgbClr val="67737D"/>
                </a:solidFill>
              </a:rPr>
              <a:t>Fonte: CRM e fluxo de pesquisa PetOrlândia.</a:t>
            </a:r>
          </a:p>
        </p:txBody>
      </p:sp>
    </p:spTree>
    <p:extLst>
      <p:ext uri="{BB962C8B-B14F-4D97-AF65-F5344CB8AC3E}">
        <p14:creationId xmlns:p14="http://schemas.microsoft.com/office/powerpoint/2010/main" val="175953636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43A2B1E-0E2D-43DF-BCB2-FA86E43D29E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B9F6C4-FBE8-4D0D-A5C7-7B3908466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-1143000"/>
            <a:ext cx="3619500" cy="266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E5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B8A1B9-EDD5-4F14-A234-5DC7E51FF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571500" y="5143500"/>
            <a:ext cx="2476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E9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45A3F6-4C9A-40CC-A203-DB317DAEA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5B39"/>
                </a:solidFill>
              </a:defRPr>
            </a:pPr>
            <a:r>
              <a:rPr sz="900" b="1">
                <a:solidFill>
                  <a:srgbClr val="0F5B39"/>
                </a:solidFill>
              </a:rPr>
              <a:t>VALIDAÇÃO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F0B359-51A7-4ADE-9EBE-AD8D0768F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42900"/>
            <a:ext cx="914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F5B39"/>
                </a:solidFill>
              </a:defRPr>
            </a:pPr>
            <a:r>
              <a:rPr sz="900" b="1">
                <a:solidFill>
                  <a:srgbClr val="0F5B39"/>
                </a:solidFill>
              </a:rPr>
              <a:t>03 / 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3EF408-4928-4BB7-A863-4CE3C142D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C7B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150CBD-18C7-451E-ACF3-2344128E0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7239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F262C"/>
                </a:solidFill>
              </a:defRPr>
            </a:pPr>
            <a:r>
              <a:rPr sz="2550" b="1">
                <a:solidFill>
                  <a:srgbClr val="1F262C"/>
                </a:solidFill>
              </a:rPr>
              <a:t>A aceitação comercial inicial é forte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58DB72-6843-4B6F-AAC7-CE673BA64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71650"/>
            <a:ext cx="723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7737D"/>
                </a:solidFill>
              </a:defRPr>
            </a:pPr>
            <a:r>
              <a:rPr sz="1350" b="0">
                <a:solidFill>
                  <a:srgbClr val="67737D"/>
                </a:solidFill>
              </a:rPr>
              <a:t>Entre as respostas estruturadas já registradas, a maioria indica abertura clara para comprar se a proposta unir preço competitivo e conveniência.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9370B7-465B-4A09-9591-F47847133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457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262C"/>
                </a:solidFill>
              </a:defRPr>
            </a:pPr>
            <a:r>
              <a:rPr sz="1200" b="1">
                <a:solidFill>
                  <a:srgbClr val="1F262C"/>
                </a:solidFill>
              </a:rPr>
              <a:t>Interesse nas 14 respostas estruturadas</a:t>
            </a:r>
          </a:p>
        </p:txBody>
      </p:sp>
      <p:graphicFrame>
        <p:nvGraphicFramePr>
          <p:cNvPr id="10" name="Chart"/>
          <p:cNvGraphicFramePr/>
          <p:nvPr/>
        </p:nvGraphicFramePr>
        <p:xfrm>
          <a:off xmlns:a="http://schemas.openxmlformats.org/drawingml/2006/main" x="685800" y="2838450"/>
          <a:ext xmlns:a="http://schemas.openxmlformats.org/drawingml/2006/main" cx="4953000" cy="2762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401e00901ce4868"/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312694-B590-475F-A436-E1B88555D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57500"/>
            <a:ext cx="531495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3C7B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A38DD1-8EE3-4B38-83C6-58007E9A5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028950"/>
            <a:ext cx="4895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5B39"/>
                </a:solidFill>
              </a:defRPr>
            </a:pPr>
            <a:r>
              <a:rPr sz="1200" b="1">
                <a:solidFill>
                  <a:srgbClr val="0F5B39"/>
                </a:solidFill>
              </a:rPr>
              <a:t>O que isso significa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E840BA-D670-4211-BA22-C9F008A40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429000"/>
            <a:ext cx="48958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62C"/>
                </a:solidFill>
              </a:defRPr>
            </a:pPr>
            <a:r>
              <a:rPr sz="1350" b="0">
                <a:solidFill>
                  <a:srgbClr val="1F262C"/>
                </a:solidFill>
              </a:rPr>
              <a:t>Mesmo com amostra pequena, o sinal é claro: o mercado não respondeu apenas com curiosidade. Houve adesão real à proposta, o que já orienta uma entrada comercial enxuta e testável.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1D832B-5F2C-42A2-B34F-7BEE6BAB6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533900"/>
            <a:ext cx="16192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DDF4EA"/>
          </a:solidFill>
          <a:ln xmlns:a="http://schemas.openxmlformats.org/drawingml/2006/main" w="9525">
            <a:solidFill>
              <a:srgbClr val="D3C7B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8B667B-CA9A-4328-BAC0-3390E76A6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533900"/>
            <a:ext cx="1619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8E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A3DBA3-F8FA-4DE1-8836-076F11E57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762500"/>
            <a:ext cx="1200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F262C"/>
                </a:solidFill>
              </a:defRPr>
            </a:pPr>
            <a:r>
              <a:rPr sz="2400" b="1">
                <a:solidFill>
                  <a:srgbClr val="1F262C"/>
                </a:solidFill>
              </a:rPr>
              <a:t>12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A6CC71-40B1-4480-B17F-13C362DC5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238750"/>
            <a:ext cx="1200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7737D"/>
                </a:solidFill>
              </a:defRPr>
            </a:pPr>
            <a:r>
              <a:rPr sz="1275" b="0">
                <a:solidFill>
                  <a:srgbClr val="67737D"/>
                </a:solidFill>
              </a:rPr>
              <a:t>respostas com interesse claro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BC4CB6-B906-46DC-AD81-F42D210F5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533900"/>
            <a:ext cx="16192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9EBCB"/>
          </a:solidFill>
          <a:ln xmlns:a="http://schemas.openxmlformats.org/drawingml/2006/main" w="9525">
            <a:solidFill>
              <a:srgbClr val="D3C7B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F787ED-4FB9-4FC0-9D5C-3956F0365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533900"/>
            <a:ext cx="1619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2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C88B91-9F91-4A77-9129-1FBAC75C9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762500"/>
            <a:ext cx="1200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F262C"/>
                </a:solidFill>
              </a:defRPr>
            </a:pPr>
            <a:r>
              <a:rPr sz="2400" b="1">
                <a:solidFill>
                  <a:srgbClr val="1F262C"/>
                </a:solidFill>
              </a:rPr>
              <a:t>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A3D2248-7368-45BE-88C1-3B164EDA6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238750"/>
            <a:ext cx="1200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7737D"/>
                </a:solidFill>
              </a:defRPr>
            </a:pPr>
            <a:r>
              <a:rPr sz="1275" b="0">
                <a:solidFill>
                  <a:srgbClr val="67737D"/>
                </a:solidFill>
              </a:rPr>
              <a:t>resposta talvez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1B45829-E26C-490D-AB7A-A1A9FC547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533900"/>
            <a:ext cx="16954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8DDD5"/>
          </a:solidFill>
          <a:ln xmlns:a="http://schemas.openxmlformats.org/drawingml/2006/main" w="9525">
            <a:solidFill>
              <a:srgbClr val="D3C7B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0AA6B98-BA36-4BFD-B15D-BA219811D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533900"/>
            <a:ext cx="16954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6C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9335E26-EE31-4769-852F-140228DB8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4762500"/>
            <a:ext cx="1276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F262C"/>
                </a:solidFill>
              </a:defRPr>
            </a:pPr>
            <a:r>
              <a:rPr sz="2400" b="1">
                <a:solidFill>
                  <a:srgbClr val="1F262C"/>
                </a:solidFill>
              </a:rPr>
              <a:t>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628E450-3283-4E99-B1C4-9D7B4E7DE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5238750"/>
            <a:ext cx="1276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7737D"/>
                </a:solidFill>
              </a:defRPr>
            </a:pPr>
            <a:r>
              <a:rPr sz="1275" b="0">
                <a:solidFill>
                  <a:srgbClr val="67737D"/>
                </a:solidFill>
              </a:rPr>
              <a:t>resposta negativa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288EF15-8575-4376-84AE-BBFD1C9B7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763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7737D"/>
                </a:solidFill>
              </a:defRPr>
            </a:pPr>
            <a:r>
              <a:rPr sz="900" b="0">
                <a:solidFill>
                  <a:srgbClr val="67737D"/>
                </a:solidFill>
              </a:rPr>
              <a:t>Fonte: 25 respostas registradas, sendo 14 com formulário estruturado.</a:t>
            </a:r>
          </a:p>
        </p:txBody>
      </p:sp>
    </p:spTree>
    <p:extLst>
      <p:ext uri="{BB962C8B-B14F-4D97-AF65-F5344CB8AC3E}">
        <p14:creationId xmlns:p14="http://schemas.microsoft.com/office/powerpoint/2010/main" val="94609868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43A2B1E-0E2D-43DF-BCB2-FA86E43D29E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93FA54-FF72-471D-A05D-EBEE1EE0F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-1143000"/>
            <a:ext cx="3619500" cy="266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E5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D20A0D-6124-4299-8D3F-44F87CBE9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571500" y="5143500"/>
            <a:ext cx="2476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E9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9E4B25-2983-421A-9E71-DDDB2FD43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5B39"/>
                </a:solidFill>
              </a:defRPr>
            </a:pPr>
            <a:r>
              <a:rPr sz="900" b="1">
                <a:solidFill>
                  <a:srgbClr val="0F5B39"/>
                </a:solidFill>
              </a:rPr>
              <a:t>SINAIS DE DEMANDA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3AAAFC-7E60-45D3-821F-4B28A7A7A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42900"/>
            <a:ext cx="914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F5B39"/>
                </a:solidFill>
              </a:defRPr>
            </a:pPr>
            <a:r>
              <a:rPr sz="900" b="1">
                <a:solidFill>
                  <a:srgbClr val="0F5B39"/>
                </a:solidFill>
              </a:rPr>
              <a:t>04 / 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524FE7-56BC-4D1E-BB4D-565DE9A5B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C7B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B94621-5CE7-40F5-82C6-00D0307E3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7239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F262C"/>
                </a:solidFill>
              </a:defRPr>
            </a:pPr>
            <a:r>
              <a:rPr sz="2550" b="1">
                <a:solidFill>
                  <a:srgbClr val="1F262C"/>
                </a:solidFill>
              </a:rPr>
              <a:t>Os sinais combinados apontam um mercado com padrão claro de entrada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C7DD7B-35D7-4262-8F7E-BA302E629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71650"/>
            <a:ext cx="723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7737D"/>
                </a:solidFill>
              </a:defRPr>
            </a:pPr>
            <a:r>
              <a:rPr sz="1350" b="0">
                <a:solidFill>
                  <a:srgbClr val="67737D"/>
                </a:solidFill>
              </a:rPr>
              <a:t>Quando unimos pesquisa atual, histórico recente e levantamento anterior, aparecem marcas econômicas e intermediárias com consistência temporal.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BAD05F-BC10-4DA4-B8C1-5CFFABA0A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666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262C"/>
                </a:solidFill>
              </a:defRPr>
            </a:pPr>
            <a:r>
              <a:rPr sz="1200" b="1">
                <a:solidFill>
                  <a:srgbClr val="1F262C"/>
                </a:solidFill>
              </a:rPr>
              <a:t>Sinais combinados de demanda por marca</a:t>
            </a:r>
          </a:p>
        </p:txBody>
      </p:sp>
      <p:graphicFrame>
        <p:nvGraphicFramePr>
          <p:cNvPr id="10" name="Chart"/>
          <p:cNvGraphicFramePr/>
          <p:nvPr/>
        </p:nvGraphicFramePr>
        <p:xfrm>
          <a:off xmlns:a="http://schemas.openxmlformats.org/drawingml/2006/main" x="685800" y="2895600"/>
          <a:ext xmlns:a="http://schemas.openxmlformats.org/drawingml/2006/main" cx="6667500" cy="2667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0a3f4ee90cf419e"/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362460-255D-4F1B-9BC6-A3B1AFE4B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895600"/>
            <a:ext cx="367665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3C7B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5EE67E-CCD2-4574-AF72-9141DC194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067050"/>
            <a:ext cx="3257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5B39"/>
                </a:solidFill>
              </a:defRPr>
            </a:pPr>
            <a:r>
              <a:rPr sz="1200" b="1">
                <a:solidFill>
                  <a:srgbClr val="0F5B39"/>
                </a:solidFill>
              </a:rPr>
              <a:t>Mensagem para a fábrica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B2986B-183B-4284-9E4F-D6763504D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467100"/>
            <a:ext cx="32575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62C"/>
                </a:solidFill>
              </a:defRPr>
            </a:pPr>
            <a:r>
              <a:rPr sz="1350" b="0">
                <a:solidFill>
                  <a:srgbClr val="1F262C"/>
                </a:solidFill>
              </a:rPr>
              <a:t>O mercado local parece responder melhor a produto honesto, competitivo e de recompra fácil. Special Dog, Golden e o bloco de marcas variadas indicam um espaço relevante para linhas de bom custo-benefício.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46561D-2344-4C84-8F6D-685B6A1C6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648200"/>
            <a:ext cx="36766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8ED"/>
          </a:solidFill>
          <a:ln xmlns:a="http://schemas.openxmlformats.org/drawingml/2006/main" w="9525">
            <a:solidFill>
              <a:srgbClr val="D3C7B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214306-EB63-4F1E-9835-C1270C8DC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781550"/>
            <a:ext cx="3257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5B39"/>
                </a:solidFill>
              </a:defRPr>
            </a:pPr>
            <a:r>
              <a:rPr sz="1200" b="1">
                <a:solidFill>
                  <a:srgbClr val="0F5B39"/>
                </a:solidFill>
              </a:rPr>
              <a:t>Leitura estratégica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CC6447-01DF-454F-94AD-ECFE8FE75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029200"/>
            <a:ext cx="32575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62C"/>
                </a:solidFill>
              </a:defRPr>
            </a:pPr>
            <a:r>
              <a:rPr sz="1275" b="0">
                <a:solidFill>
                  <a:srgbClr val="1F262C"/>
                </a:solidFill>
              </a:rPr>
              <a:t>O peso de “marcas variadas” sugere fidelidade ainda pouco consolidada. Isso abre janela para uma nova indústria entrar com proposta clara de valor.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97D426-BB2C-40AC-98FB-9567D3528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763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7737D"/>
                </a:solidFill>
              </a:defRPr>
            </a:pPr>
            <a:r>
              <a:rPr sz="900" b="0">
                <a:solidFill>
                  <a:srgbClr val="67737D"/>
                </a:solidFill>
              </a:rPr>
              <a:t>Fonte: sinais combinados entre pesquisa atual, histórico do sistema e pesquisa anterior com 29 contatos.</a:t>
            </a:r>
          </a:p>
        </p:txBody>
      </p:sp>
    </p:spTree>
    <p:extLst>
      <p:ext uri="{BB962C8B-B14F-4D97-AF65-F5344CB8AC3E}">
        <p14:creationId xmlns:p14="http://schemas.microsoft.com/office/powerpoint/2010/main" val="183496741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43A2B1E-0E2D-43DF-BCB2-FA86E43D29E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7EA756-D119-4D6E-B7E5-0A287C7D0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-1143000"/>
            <a:ext cx="3619500" cy="266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E5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983200-86C3-4BF2-91C9-72EC4E4C6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571500" y="5143500"/>
            <a:ext cx="2476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E9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ABD3D8-E409-4705-B65A-CB63F8C9B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5B39"/>
                </a:solidFill>
              </a:defRPr>
            </a:pPr>
            <a:r>
              <a:rPr sz="900" b="1">
                <a:solidFill>
                  <a:srgbClr val="0F5B39"/>
                </a:solidFill>
              </a:rPr>
              <a:t>PREÇO E EMBALAGEM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2F9117-514E-49C0-86AA-CC499DC00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42900"/>
            <a:ext cx="914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F5B39"/>
                </a:solidFill>
              </a:defRPr>
            </a:pPr>
            <a:r>
              <a:rPr sz="900" b="1">
                <a:solidFill>
                  <a:srgbClr val="0F5B39"/>
                </a:solidFill>
              </a:rPr>
              <a:t>05 / 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2DBBFC-E229-467B-87E0-9C8593C95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C7B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BBA711-1D01-4A12-BDA5-E4EB13276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7239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F262C"/>
                </a:solidFill>
              </a:defRPr>
            </a:pPr>
            <a:r>
              <a:rPr sz="2550" b="1">
                <a:solidFill>
                  <a:srgbClr val="1F262C"/>
                </a:solidFill>
              </a:rPr>
              <a:t>Formato e faixa de preço já aparecem com nitidez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480AB3-821C-459F-ABA5-FA3FD9D07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71650"/>
            <a:ext cx="723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7737D"/>
                </a:solidFill>
              </a:defRPr>
            </a:pPr>
            <a:r>
              <a:rPr sz="1350" b="0">
                <a:solidFill>
                  <a:srgbClr val="67737D"/>
                </a:solidFill>
              </a:rPr>
              <a:t>A leitura consolidada indica predominância de sacos de 15 kg e, na pesquisa estruturada, concentração maior na faixa de R$100–150.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88F3CE-7877-4D08-AA35-8706CEFC6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262C"/>
                </a:solidFill>
              </a:defRPr>
            </a:pPr>
            <a:r>
              <a:rPr sz="1200" b="1">
                <a:solidFill>
                  <a:srgbClr val="1F262C"/>
                </a:solidFill>
              </a:rPr>
              <a:t>Formato de saco mais recorrente</a:t>
            </a:r>
          </a:p>
        </p:txBody>
      </p:sp>
      <p:graphicFrame>
        <p:nvGraphicFramePr>
          <p:cNvPr id="10" name="Chart"/>
          <p:cNvGraphicFramePr/>
          <p:nvPr/>
        </p:nvGraphicFramePr>
        <p:xfrm>
          <a:off xmlns:a="http://schemas.openxmlformats.org/drawingml/2006/main" x="685800" y="2895600"/>
          <a:ext xmlns:a="http://schemas.openxmlformats.org/drawingml/2006/main" cx="4762500" cy="2571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3561a84585f46cd"/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2045DB-CFA5-4FA9-9D46-BC87E275A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5717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262C"/>
                </a:solidFill>
              </a:defRPr>
            </a:pPr>
            <a:r>
              <a:rPr sz="1200" b="1">
                <a:solidFill>
                  <a:srgbClr val="1F262C"/>
                </a:solidFill>
              </a:rPr>
              <a:t>Faixa de preço mais presente</a:t>
            </a:r>
          </a:p>
        </p:txBody>
      </p:sp>
      <p:graphicFrame>
        <p:nvGraphicFramePr>
          <p:cNvPr id="12" name="Chart"/>
          <p:cNvGraphicFramePr/>
          <p:nvPr/>
        </p:nvGraphicFramePr>
        <p:xfrm>
          <a:off xmlns:a="http://schemas.openxmlformats.org/drawingml/2006/main" x="6096000" y="2895600"/>
          <a:ext xmlns:a="http://schemas.openxmlformats.org/drawingml/2006/main" cx="4762500" cy="2571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c47666c87b74f3c"/>
          </a:graphicData>
        </a:graphic>
      </p:graphicFrame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AB68EB-810F-4CCC-8249-CB56253B4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62600"/>
            <a:ext cx="51435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3C7B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6366E8-D0DB-4F51-B3AC-9A8AC4DCB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695950"/>
            <a:ext cx="4724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5B39"/>
                </a:solidFill>
              </a:defRPr>
            </a:pPr>
            <a:r>
              <a:rPr sz="1200" b="1">
                <a:solidFill>
                  <a:srgbClr val="0F5B39"/>
                </a:solidFill>
              </a:rPr>
              <a:t>Canal de compra hoje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AF7614-4B1D-44C5-8086-989A1D72D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943600"/>
            <a:ext cx="4724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262C"/>
                </a:solidFill>
              </a:defRPr>
            </a:pPr>
            <a:r>
              <a:rPr sz="1200" b="0">
                <a:solidFill>
                  <a:srgbClr val="1F262C"/>
                </a:solidFill>
              </a:rPr>
              <a:t>11 das 13 respostas com canal preenchido vieram de Pet Shop. O mercado atual parece físico e relacional, favorecendo entrega e recompra local.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86DBAF-FA81-49AA-9D9C-443B2D112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562600"/>
            <a:ext cx="47625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8ED"/>
          </a:solidFill>
          <a:ln xmlns:a="http://schemas.openxmlformats.org/drawingml/2006/main" w="9525">
            <a:solidFill>
              <a:srgbClr val="D3C7B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C70AA4-06F2-4B91-AC53-0D1F207E8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695950"/>
            <a:ext cx="4343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5B39"/>
                </a:solidFill>
              </a:defRPr>
            </a:pPr>
            <a:r>
              <a:rPr sz="1200" b="1">
                <a:solidFill>
                  <a:srgbClr val="0F5B39"/>
                </a:solidFill>
              </a:rPr>
              <a:t>Leitura de abastecimento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665A02-9E62-4678-A827-41D3F8569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943600"/>
            <a:ext cx="4343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262C"/>
                </a:solidFill>
              </a:defRPr>
            </a:pPr>
            <a:r>
              <a:rPr sz="1200" b="0">
                <a:solidFill>
                  <a:srgbClr val="1F262C"/>
                </a:solidFill>
              </a:rPr>
              <a:t>Para um lote inicial, a combinação mais defensável é começar por SKUs de 15 kg na faixa de R$100–150, com foco em giro.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13987C-2E69-4DD9-B686-F3528505D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763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7737D"/>
                </a:solidFill>
              </a:defRPr>
            </a:pPr>
            <a:r>
              <a:rPr sz="900" b="0">
                <a:solidFill>
                  <a:srgbClr val="67737D"/>
                </a:solidFill>
              </a:rPr>
              <a:t>Fonte: embalagem consolidada entre pesquisa e histórico; preço com base principal nas respostas estruturadas.</a:t>
            </a:r>
          </a:p>
        </p:txBody>
      </p:sp>
    </p:spTree>
    <p:extLst>
      <p:ext uri="{BB962C8B-B14F-4D97-AF65-F5344CB8AC3E}">
        <p14:creationId xmlns:p14="http://schemas.microsoft.com/office/powerpoint/2010/main" val="36431449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43A2B1E-0E2D-43DF-BCB2-FA86E43D29E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839380-649E-472B-9B80-178ED530B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-1143000"/>
            <a:ext cx="3619500" cy="266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E5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21C778-D341-4914-86E0-D493BC1AA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571500" y="5143500"/>
            <a:ext cx="2476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E9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534DB1-D93E-4212-A22A-55A1F7A9F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5B39"/>
                </a:solidFill>
              </a:defRPr>
            </a:pPr>
            <a:r>
              <a:rPr sz="900" b="1">
                <a:solidFill>
                  <a:srgbClr val="0F5B39"/>
                </a:solidFill>
              </a:rPr>
              <a:t>ENTRADA SUGERIDA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CCA883-6C99-46FC-9AE2-EDB2EFE0F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42900"/>
            <a:ext cx="914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F5B39"/>
                </a:solidFill>
              </a:defRPr>
            </a:pPr>
            <a:r>
              <a:rPr sz="900" b="1">
                <a:solidFill>
                  <a:srgbClr val="0F5B39"/>
                </a:solidFill>
              </a:rPr>
              <a:t>06 / 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37140D-0C86-4C8C-8197-08996625C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C7B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A35535-7428-4102-AB55-D2AF3C7B6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7239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F262C"/>
                </a:solidFill>
              </a:defRPr>
            </a:pPr>
            <a:r>
              <a:rPr sz="2550" b="1">
                <a:solidFill>
                  <a:srgbClr val="1F262C"/>
                </a:solidFill>
              </a:rPr>
              <a:t>Como a indústria pode entrar bem nesse mercado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ADCB68-07EC-4A2A-AE8A-6AED92258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71650"/>
            <a:ext cx="723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7737D"/>
                </a:solidFill>
              </a:defRPr>
            </a:pPr>
            <a:r>
              <a:rPr sz="1350" b="0">
                <a:solidFill>
                  <a:srgbClr val="67737D"/>
                </a:solidFill>
              </a:rPr>
              <a:t>A recomendação é começar com portfólio enxuto, preço competitivo, poucas SKUs e foco nas linhas com maior chance de giro e recompra.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6E5E7D-B491-49DF-A22B-5C1291753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23812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DDF4EA"/>
          </a:solidFill>
          <a:ln xmlns:a="http://schemas.openxmlformats.org/drawingml/2006/main" w="9525">
            <a:solidFill>
              <a:srgbClr val="D3C7B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440315-BEF4-4D3D-874B-6D2AAF191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2381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8E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27183A-875B-429A-BA51-0284EE034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33700"/>
            <a:ext cx="1962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F262C"/>
                </a:solidFill>
              </a:defRPr>
            </a:pPr>
            <a:r>
              <a:rPr sz="2400" b="1">
                <a:solidFill>
                  <a:srgbClr val="1F262C"/>
                </a:solidFill>
              </a:rPr>
              <a:t>15 kg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069EC4-4773-41C2-84D4-C741015CD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09950"/>
            <a:ext cx="1962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7737D"/>
                </a:solidFill>
              </a:defRPr>
            </a:pPr>
            <a:r>
              <a:rPr sz="1275" b="0">
                <a:solidFill>
                  <a:srgbClr val="67737D"/>
                </a:solidFill>
              </a:rPr>
              <a:t>formato prioritário de estreia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2B7707-8E7B-4C45-8623-8B56F7457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705100"/>
            <a:ext cx="23812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E1EAFE"/>
          </a:solidFill>
          <a:ln xmlns:a="http://schemas.openxmlformats.org/drawingml/2006/main" w="9525">
            <a:solidFill>
              <a:srgbClr val="D3C7B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8B30A7-7CCD-4432-9F41-315ADA7C3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705100"/>
            <a:ext cx="2381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DDC786-0EDC-4BE0-8826-81B88096E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933700"/>
            <a:ext cx="1962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F262C"/>
                </a:solidFill>
              </a:defRPr>
            </a:pPr>
            <a:r>
              <a:rPr sz="2400" b="1">
                <a:solidFill>
                  <a:srgbClr val="1F262C"/>
                </a:solidFill>
              </a:rPr>
              <a:t>R$100–150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8B718D-CD96-45DB-80AE-5414A849C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409950"/>
            <a:ext cx="1962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7737D"/>
                </a:solidFill>
              </a:defRPr>
            </a:pPr>
            <a:r>
              <a:rPr sz="1275" b="0">
                <a:solidFill>
                  <a:srgbClr val="67737D"/>
                </a:solidFill>
              </a:rPr>
              <a:t>faixa mais presente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F7A216-A5C0-4632-BED2-35ADAE419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705100"/>
            <a:ext cx="23812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9EBCB"/>
          </a:solidFill>
          <a:ln xmlns:a="http://schemas.openxmlformats.org/drawingml/2006/main" w="9525">
            <a:solidFill>
              <a:srgbClr val="D3C7B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320FA8-0914-478B-B933-412865E11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705100"/>
            <a:ext cx="2381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2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64DE94-28C7-4C51-98AA-485647095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933700"/>
            <a:ext cx="1962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F262C"/>
                </a:solidFill>
              </a:defRPr>
            </a:pPr>
            <a:r>
              <a:rPr sz="2400" b="1">
                <a:solidFill>
                  <a:srgbClr val="1F262C"/>
                </a:solidFill>
              </a:rPr>
              <a:t>Special Dog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8E5985-C8F1-4595-90D2-58C5601FF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409950"/>
            <a:ext cx="1962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7737D"/>
                </a:solidFill>
              </a:defRPr>
            </a:pPr>
            <a:r>
              <a:rPr sz="1275" b="0">
                <a:solidFill>
                  <a:srgbClr val="67737D"/>
                </a:solidFill>
              </a:rPr>
              <a:t>marca mais forte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29544CD-EE40-44A4-A33D-A4FFCA1A0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705100"/>
            <a:ext cx="30480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8DDD5"/>
          </a:solidFill>
          <a:ln xmlns:a="http://schemas.openxmlformats.org/drawingml/2006/main" w="9525">
            <a:solidFill>
              <a:srgbClr val="D3C7B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22C3E34-6A67-4B63-959D-474674408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705100"/>
            <a:ext cx="3048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6C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A030752-41A3-42BB-B8FC-8B85935BE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933700"/>
            <a:ext cx="26289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F262C"/>
                </a:solidFill>
              </a:defRPr>
            </a:pPr>
            <a:r>
              <a:rPr sz="2400" b="1">
                <a:solidFill>
                  <a:srgbClr val="1F262C"/>
                </a:solidFill>
              </a:rPr>
              <a:t>92 tutores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38B025E-CF81-487D-9DA2-D487A2B06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409950"/>
            <a:ext cx="26289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7737D"/>
                </a:solidFill>
              </a:defRPr>
            </a:pPr>
            <a:r>
              <a:rPr sz="1275" b="0">
                <a:solidFill>
                  <a:srgbClr val="67737D"/>
                </a:solidFill>
              </a:rPr>
              <a:t>na fila de contato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95CED9F-4E29-4C76-9008-47B0211E9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49530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3C7B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774A7A9-41B0-4A73-B775-A2E7C9F80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67200"/>
            <a:ext cx="4533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5B39"/>
                </a:solidFill>
              </a:defRPr>
            </a:pPr>
            <a:r>
              <a:rPr sz="1200" b="1">
                <a:solidFill>
                  <a:srgbClr val="0F5B39"/>
                </a:solidFill>
              </a:rPr>
              <a:t>Mix inicial sugerido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C111274-8A57-46C8-AE27-9947920A8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67250"/>
            <a:ext cx="45339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62C"/>
                </a:solidFill>
              </a:defRPr>
            </a:pPr>
            <a:r>
              <a:rPr sz="1350" b="0">
                <a:solidFill>
                  <a:srgbClr val="1F262C"/>
                </a:solidFill>
              </a:rPr>
              <a:t>1. Linhas econômicas e intermediárias com giro alto</a:t>
            </a:r>
          </a:p>
          <a:p xmlns:a="http://schemas.openxmlformats.org/drawingml/2006/main">
            <a:pPr algn="l">
              <a:defRPr sz="1350" b="0">
                <a:solidFill>
                  <a:srgbClr val="1F262C"/>
                </a:solidFill>
              </a:defRPr>
            </a:pPr>
            <a:r>
              <a:rPr sz="1350" b="0">
                <a:solidFill>
                  <a:srgbClr val="1F262C"/>
                </a:solidFill>
              </a:rPr>
              <a:t>2. Poucas SKUs para leitura rápida de venda</a:t>
            </a:r>
          </a:p>
          <a:p xmlns:a="http://schemas.openxmlformats.org/drawingml/2006/main">
            <a:pPr algn="l">
              <a:defRPr sz="1350" b="0">
                <a:solidFill>
                  <a:srgbClr val="1F262C"/>
                </a:solidFill>
              </a:defRPr>
            </a:pPr>
            <a:r>
              <a:rPr sz="1350" b="0">
                <a:solidFill>
                  <a:srgbClr val="1F262C"/>
                </a:solidFill>
              </a:rPr>
              <a:t>3. Prioridade em cães adultos</a:t>
            </a:r>
          </a:p>
          <a:p xmlns:a="http://schemas.openxmlformats.org/drawingml/2006/main">
            <a:pPr algn="l">
              <a:defRPr sz="1350" b="0">
                <a:solidFill>
                  <a:srgbClr val="1F262C"/>
                </a:solidFill>
              </a:defRPr>
            </a:pPr>
            <a:r>
              <a:rPr sz="1350" b="0">
                <a:solidFill>
                  <a:srgbClr val="1F262C"/>
                </a:solidFill>
              </a:rPr>
              <a:t>4. Começar por 15 kg e testar profundidade antes de ampliar portfólio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09B8184-925C-4802-8DF3-E0282EC83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095750"/>
            <a:ext cx="56007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8ED"/>
          </a:solidFill>
          <a:ln xmlns:a="http://schemas.openxmlformats.org/drawingml/2006/main" w="9525">
            <a:solidFill>
              <a:srgbClr val="D3C7B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9A9571F-6DF8-4553-8185-940786AC8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267200"/>
            <a:ext cx="5181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5B39"/>
                </a:solidFill>
              </a:defRPr>
            </a:pPr>
            <a:r>
              <a:rPr sz="1200" b="1">
                <a:solidFill>
                  <a:srgbClr val="0F5B39"/>
                </a:solidFill>
              </a:rPr>
              <a:t>Por que agir agora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2D127AF-470C-426A-B203-E6BC84424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667250"/>
            <a:ext cx="51816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62C"/>
                </a:solidFill>
              </a:defRPr>
            </a:pPr>
            <a:r>
              <a:rPr sz="1350" b="0">
                <a:solidFill>
                  <a:srgbClr val="1F262C"/>
                </a:solidFill>
              </a:rPr>
              <a:t>Existe base local, confiança construída, mercado ainda pouco estruturado e consistência entre múltiplas fontes de demanda. A decisão inicial não precisa ser perfeita; ela precisa ser inteligente, enxuta e mensurável.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56DADD3-7FE3-44A4-8EE2-FEDDEFFDA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763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7737D"/>
                </a:solidFill>
              </a:defRPr>
            </a:pPr>
            <a:r>
              <a:rPr sz="900" b="0">
                <a:solidFill>
                  <a:srgbClr val="67737D"/>
                </a:solidFill>
              </a:rPr>
              <a:t>Conclusão baseada em base ativa, pesquisa atual, histórico do sistema e levantamento anterior.</a:t>
            </a:r>
          </a:p>
        </p:txBody>
      </p:sp>
    </p:spTree>
    <p:extLst>
      <p:ext uri="{BB962C8B-B14F-4D97-AF65-F5344CB8AC3E}">
        <p14:creationId xmlns:p14="http://schemas.microsoft.com/office/powerpoint/2010/main" val="2006812189"/>
      </p:ext>
    </p:extLst>
  </p:cSld>
</p:sld>
</file>

<file path=ppt/theme/theme1.xml><?xml version="1.0" encoding="utf-8"?>
<a:theme xmlns:a="http://schemas.openxmlformats.org/drawingml/2006/main" name="PetOrlandiaSupplier">
  <a:themeElements>
    <a:clrScheme name="PetOrlandiaSupplier">
      <a:accent1>
        <a:srgbClr val="1E8E5A"/>
      </a:accent1>
      <a:accent2>
        <a:srgbClr val="2F6BFF"/>
      </a:accent2>
      <a:accent3>
        <a:srgbClr val="C8921C"/>
      </a:accent3>
      <a:accent4>
        <a:srgbClr val="E06C4B"/>
      </a:accent4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PetOrlandiaSupplier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2026-04-19T18:29:51.4210000Z</dcterms:created>
  <dcterms:modified xsi:type="dcterms:W3CDTF">2026-04-19T18:29:51.4210000Z</dcterms:modified>
</coreProperties>
</file>